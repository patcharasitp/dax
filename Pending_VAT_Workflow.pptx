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b="1" spc="400" kern="0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PENDING VAT</a:t>
            </a:r>
            <a:endParaRPr lang="th-TH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2423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40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ขั้นตอนการทำงาน Pending VAT</a:t>
            </a:r>
            <a:endParaRPr lang="th-TH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32918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dirty="0">
                <a:solidFill>
                  <a:srgbClr val="77736B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ตามหาใบเสร็จรับเงินและใบกำกับภาษี เพื่อ Claim VAT</a:t>
            </a:r>
            <a:endParaRPr lang="th-TH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5669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A9A49A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ทีมตามเอกสาร บ้าน TRUE และบ้าน DTAC</a:t>
            </a:r>
            <a:endParaRPr lang="th-TH" sz="1200" dirty="0"/>
          </a:p>
        </p:txBody>
      </p:sp>
      <p:sp>
        <p:nvSpPr>
          <p:cNvPr id="6" name="Shape 4"/>
          <p:cNvSpPr/>
          <p:nvPr/>
        </p:nvSpPr>
        <p:spPr>
          <a:xfrm rot="-360000">
            <a:off x="8732520" y="233172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AFAF8"/>
          </a:solidFill>
          <a:ln w="28575">
            <a:solidFill>
              <a:srgbClr val="B85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-360000">
            <a:off x="8732520" y="2331720"/>
            <a:ext cx="2606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800" strike="sngStrike" dirty="0">
                <a:solidFill>
                  <a:srgbClr val="A9A49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Pending</a:t>
            </a:r>
            <a:endParaRPr lang="th-TH" sz="1800" dirty="0"/>
          </a:p>
          <a:p>
            <a:pPr algn="ctr" indent="0" marL="0">
              <a:buNone/>
            </a:pPr>
            <a:r>
              <a:rPr lang="th-TH" altLang="en-US" sz="3000" b="1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Waiting</a:t>
            </a:r>
            <a:endParaRPr lang="th-TH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b="1" spc="100" kern="0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/01</a:t>
            </a:r>
            <a:endParaRPr lang="th-TH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8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ภาพรวม เอกสารเดินทางยังไงจนถึง Report</a:t>
            </a:r>
            <a:endParaRPr lang="th-TH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1002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rgbClr val="77736B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ไฟล์ที่คีย์ไปหาน้องนิว  กระดาษที่ปริ้นไปหาบัญชี  Report อัปเดตทุกวันศุกร์</a:t>
            </a:r>
            <a:endParaRPr lang="th-TH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dirty="0">
                <a:solidFill>
                  <a:srgbClr val="A9A49A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Pending VAT  ขั้นตอนการทำงาน</a:t>
            </a:r>
            <a:endParaRPr lang="th-TH" sz="1000" dirty="0"/>
          </a:p>
        </p:txBody>
      </p:sp>
      <p:sp>
        <p:nvSpPr>
          <p:cNvPr id="6" name="Text 4"/>
          <p:cNvSpPr/>
          <p:nvPr/>
        </p:nvSpPr>
        <p:spPr>
          <a:xfrm>
            <a:off x="106829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h-TH" altLang="en-US" sz="1000" dirty="0">
                <a:solidFill>
                  <a:srgbClr val="A9A49A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2</a:t>
            </a:r>
            <a:endParaRPr lang="th-TH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b="1" dirty="0">
                <a:solidFill>
                  <a:srgbClr val="7773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บ้าน TRUE</a:t>
            </a:r>
            <a:endParaRPr lang="th-TH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10312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24028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ช่องทาง 1  E-Tax</a:t>
            </a:r>
            <a:endParaRPr lang="th-TH" sz="1500" dirty="0"/>
          </a:p>
        </p:txBody>
      </p:sp>
      <p:sp>
        <p:nvSpPr>
          <p:cNvPr id="10" name="Text 8"/>
          <p:cNvSpPr/>
          <p:nvPr/>
        </p:nvSpPr>
        <p:spPr>
          <a:xfrm>
            <a:off x="758952" y="257860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77736B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ค้นในอีเมล Group Mail</a:t>
            </a:r>
            <a:endParaRPr lang="th-TH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10896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24612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ช่องทาง 2  กระดาษ</a:t>
            </a:r>
            <a:endParaRPr lang="th-TH" sz="1500" dirty="0"/>
          </a:p>
        </p:txBody>
      </p:sp>
      <p:sp>
        <p:nvSpPr>
          <p:cNvPr id="13" name="Text 11"/>
          <p:cNvSpPr/>
          <p:nvPr/>
        </p:nvSpPr>
        <p:spPr>
          <a:xfrm>
            <a:off x="758952" y="358444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77736B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พี่ไอซ์แยก แพรแยกตามบริษัท</a:t>
            </a:r>
            <a:endParaRPr lang="th-TH" sz="1200" dirty="0"/>
          </a:p>
        </p:txBody>
      </p:sp>
      <p:sp>
        <p:nvSpPr>
          <p:cNvPr id="14" name="Shape 12"/>
          <p:cNvSpPr/>
          <p:nvPr/>
        </p:nvSpPr>
        <p:spPr>
          <a:xfrm>
            <a:off x="3154680" y="26060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2743200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คีย์ลงไฟล์</a:t>
            </a:r>
            <a:endParaRPr lang="th-TH" sz="1500" dirty="0"/>
          </a:p>
        </p:txBody>
      </p:sp>
      <p:sp>
        <p:nvSpPr>
          <p:cNvPr id="16" name="Text 14"/>
          <p:cNvSpPr/>
          <p:nvPr/>
        </p:nvSpPr>
        <p:spPr>
          <a:xfrm>
            <a:off x="3319272" y="308152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77736B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แยกไฟล์ตามคนทำ</a:t>
            </a:r>
            <a:endParaRPr lang="th-TH" sz="1200" dirty="0"/>
          </a:p>
        </p:txBody>
      </p:sp>
      <p:sp>
        <p:nvSpPr>
          <p:cNvPr id="17" name="Shape 15"/>
          <p:cNvSpPr/>
          <p:nvPr/>
        </p:nvSpPr>
        <p:spPr>
          <a:xfrm>
            <a:off x="5349240" y="173736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13832" y="1874520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ส่งให้บัญชี</a:t>
            </a:r>
            <a:endParaRPr lang="th-TH" sz="1500" dirty="0"/>
          </a:p>
        </p:txBody>
      </p:sp>
      <p:sp>
        <p:nvSpPr>
          <p:cNvPr id="19" name="Text 17"/>
          <p:cNvSpPr/>
          <p:nvPr/>
        </p:nvSpPr>
        <p:spPr>
          <a:xfrm>
            <a:off x="5513832" y="221284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77736B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กระดาษที่ปริ้น</a:t>
            </a:r>
            <a:endParaRPr lang="th-TH" sz="1200" dirty="0"/>
          </a:p>
        </p:txBody>
      </p:sp>
      <p:sp>
        <p:nvSpPr>
          <p:cNvPr id="20" name="Shape 18"/>
          <p:cNvSpPr/>
          <p:nvPr/>
        </p:nvSpPr>
        <p:spPr>
          <a:xfrm>
            <a:off x="5513832" y="246888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7E4DD"/>
          </a:solidFill>
          <a:ln w="12700">
            <a:solidFill>
              <a:srgbClr val="E7E4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24688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100" b="1" dirty="0">
                <a:solidFill>
                  <a:srgbClr val="7773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ทุกวัน</a:t>
            </a:r>
            <a:endParaRPr lang="th-TH" sz="1100" dirty="0"/>
          </a:p>
        </p:txBody>
      </p:sp>
      <p:sp>
        <p:nvSpPr>
          <p:cNvPr id="22" name="Shape 20"/>
          <p:cNvSpPr/>
          <p:nvPr/>
        </p:nvSpPr>
        <p:spPr>
          <a:xfrm>
            <a:off x="5349240" y="29718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13832" y="3108960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ส่งให้น้องนิว</a:t>
            </a:r>
            <a:endParaRPr lang="th-TH" sz="1500" dirty="0"/>
          </a:p>
        </p:txBody>
      </p:sp>
      <p:sp>
        <p:nvSpPr>
          <p:cNvPr id="24" name="Text 22"/>
          <p:cNvSpPr/>
          <p:nvPr/>
        </p:nvSpPr>
        <p:spPr>
          <a:xfrm>
            <a:off x="5513832" y="344728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77736B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ไฟล์ที่คีย์แล้ว</a:t>
            </a:r>
            <a:endParaRPr lang="th-TH" sz="1200" dirty="0"/>
          </a:p>
        </p:txBody>
      </p:sp>
      <p:sp>
        <p:nvSpPr>
          <p:cNvPr id="25" name="Shape 23"/>
          <p:cNvSpPr/>
          <p:nvPr/>
        </p:nvSpPr>
        <p:spPr>
          <a:xfrm>
            <a:off x="5513832" y="370332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6E9E3"/>
          </a:solidFill>
          <a:ln w="12700">
            <a:solidFill>
              <a:srgbClr val="F6E9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37033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100" b="1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ทุกวัน</a:t>
            </a:r>
            <a:endParaRPr lang="th-TH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4480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b="1" dirty="0">
                <a:solidFill>
                  <a:srgbClr val="7773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บ้าน DTAC</a:t>
            </a:r>
            <a:endParaRPr lang="th-TH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48006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493776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ทีมตาม DTAC</a:t>
            </a:r>
            <a:endParaRPr lang="th-TH" sz="1500" dirty="0"/>
          </a:p>
        </p:txBody>
      </p:sp>
      <p:sp>
        <p:nvSpPr>
          <p:cNvPr id="30" name="Text 28"/>
          <p:cNvSpPr/>
          <p:nvPr/>
        </p:nvSpPr>
        <p:spPr>
          <a:xfrm>
            <a:off x="758952" y="527608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77736B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พี่บิว</a:t>
            </a:r>
            <a:endParaRPr lang="th-TH" sz="1200" dirty="0"/>
          </a:p>
        </p:txBody>
      </p:sp>
      <p:sp>
        <p:nvSpPr>
          <p:cNvPr id="31" name="Shape 29"/>
          <p:cNvSpPr/>
          <p:nvPr/>
        </p:nvSpPr>
        <p:spPr>
          <a:xfrm>
            <a:off x="3154680" y="48006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9272" y="4937760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คีย์ลงไฟล์</a:t>
            </a:r>
            <a:endParaRPr lang="th-TH" sz="1500" dirty="0"/>
          </a:p>
        </p:txBody>
      </p:sp>
      <p:sp>
        <p:nvSpPr>
          <p:cNvPr id="33" name="Shape 31"/>
          <p:cNvSpPr/>
          <p:nvPr/>
        </p:nvSpPr>
        <p:spPr>
          <a:xfrm>
            <a:off x="5349240" y="46863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4823460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ส่งให้น้องนิว</a:t>
            </a:r>
            <a:endParaRPr lang="th-TH" sz="1500" dirty="0"/>
          </a:p>
        </p:txBody>
      </p:sp>
      <p:sp>
        <p:nvSpPr>
          <p:cNvPr id="35" name="Text 33"/>
          <p:cNvSpPr/>
          <p:nvPr/>
        </p:nvSpPr>
        <p:spPr>
          <a:xfrm>
            <a:off x="5513832" y="516178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77736B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ไฟล์ที่คีย์แล้ว</a:t>
            </a:r>
            <a:endParaRPr lang="th-TH" sz="1200" dirty="0"/>
          </a:p>
        </p:txBody>
      </p:sp>
      <p:sp>
        <p:nvSpPr>
          <p:cNvPr id="36" name="Shape 34"/>
          <p:cNvSpPr/>
          <p:nvPr/>
        </p:nvSpPr>
        <p:spPr>
          <a:xfrm>
            <a:off x="5513832" y="541782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6E9E3"/>
          </a:solidFill>
          <a:ln w="12700">
            <a:solidFill>
              <a:srgbClr val="F6E9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54178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100" b="1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ทุกวันพุธ</a:t>
            </a:r>
            <a:endParaRPr lang="th-TH" sz="1100" dirty="0"/>
          </a:p>
        </p:txBody>
      </p:sp>
      <p:sp>
        <p:nvSpPr>
          <p:cNvPr id="38" name="Shape 36"/>
          <p:cNvSpPr/>
          <p:nvPr/>
        </p:nvSpPr>
        <p:spPr>
          <a:xfrm>
            <a:off x="7543800" y="364617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850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08392" y="378333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น้องนิว</a:t>
            </a:r>
            <a:endParaRPr lang="th-TH" sz="1800" dirty="0"/>
          </a:p>
        </p:txBody>
      </p:sp>
      <p:sp>
        <p:nvSpPr>
          <p:cNvPr id="40" name="Text 38"/>
          <p:cNvSpPr/>
          <p:nvPr/>
        </p:nvSpPr>
        <p:spPr>
          <a:xfrm>
            <a:off x="7708392" y="417652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77736B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ทำไฟล์เปลี่ยน Status</a:t>
            </a:r>
            <a:endParaRPr lang="th-TH" sz="1200" dirty="0"/>
          </a:p>
        </p:txBody>
      </p:sp>
      <p:sp>
        <p:nvSpPr>
          <p:cNvPr id="41" name="Shape 39"/>
          <p:cNvSpPr/>
          <p:nvPr/>
        </p:nvSpPr>
        <p:spPr>
          <a:xfrm>
            <a:off x="7708392" y="4578858"/>
            <a:ext cx="1682496" cy="310896"/>
          </a:xfrm>
          <a:prstGeom prst="roundRect">
            <a:avLst>
              <a:gd name="adj" fmla="val 50000"/>
            </a:avLst>
          </a:prstGeom>
          <a:solidFill>
            <a:srgbClr val="B8502E"/>
          </a:solidFill>
          <a:ln w="12700">
            <a:solidFill>
              <a:srgbClr val="B850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08392" y="457885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1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Pending → Waiting</a:t>
            </a:r>
            <a:endParaRPr lang="th-TH" sz="1100" dirty="0"/>
          </a:p>
        </p:txBody>
      </p:sp>
      <p:sp>
        <p:nvSpPr>
          <p:cNvPr id="43" name="Shape 41"/>
          <p:cNvSpPr/>
          <p:nvPr/>
        </p:nvSpPr>
        <p:spPr>
          <a:xfrm>
            <a:off x="9921240" y="382905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85832" y="3966210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อัปเดต Report</a:t>
            </a:r>
            <a:endParaRPr lang="th-TH" sz="1500" dirty="0"/>
          </a:p>
        </p:txBody>
      </p:sp>
      <p:sp>
        <p:nvSpPr>
          <p:cNvPr id="45" name="Shape 43"/>
          <p:cNvSpPr/>
          <p:nvPr/>
        </p:nvSpPr>
        <p:spPr>
          <a:xfrm>
            <a:off x="10085832" y="439597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6E9E3"/>
          </a:solidFill>
          <a:ln w="12700">
            <a:solidFill>
              <a:srgbClr val="F6E9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85832" y="439597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100" b="1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ทุกวันศุกร์</a:t>
            </a:r>
            <a:endParaRPr lang="th-TH" sz="1100" dirty="0"/>
          </a:p>
        </p:txBody>
      </p:sp>
      <p:sp>
        <p:nvSpPr>
          <p:cNvPr id="47" name="Shape 45"/>
          <p:cNvSpPr/>
          <p:nvPr/>
        </p:nvSpPr>
        <p:spPr>
          <a:xfrm>
            <a:off x="2788920" y="2537460"/>
            <a:ext cx="18288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88920" y="3543300"/>
            <a:ext cx="18288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71800" y="2537460"/>
            <a:ext cx="0" cy="100584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71800" y="3040380"/>
            <a:ext cx="18288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4983480" y="3040380"/>
            <a:ext cx="18288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66360" y="2286000"/>
            <a:ext cx="0" cy="123444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66360" y="2286000"/>
            <a:ext cx="18288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5166360" y="3520440"/>
            <a:ext cx="18288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2788920" y="5234940"/>
            <a:ext cx="36576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983480" y="5234940"/>
            <a:ext cx="36576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7178040" y="3520440"/>
            <a:ext cx="18288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78040" y="5234940"/>
            <a:ext cx="18288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60920" y="3520440"/>
            <a:ext cx="0" cy="171450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60920" y="4377690"/>
            <a:ext cx="18288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9555480" y="4377690"/>
            <a:ext cx="36576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b="1" spc="100" kern="0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/02</a:t>
            </a:r>
            <a:endParaRPr lang="th-TH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8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ช่องทาง 1  E-Tax ทางอีเมล</a:t>
            </a:r>
            <a:endParaRPr lang="th-TH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1002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rgbClr val="77736B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เอกสาร E-Tax ของบ้าน TRUE เข้ามาทาง Group Mail</a:t>
            </a:r>
            <a:endParaRPr lang="th-TH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dirty="0">
                <a:solidFill>
                  <a:srgbClr val="A9A49A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Pending VAT  ขั้นตอนการทำงาน</a:t>
            </a:r>
            <a:endParaRPr lang="th-TH" sz="1000" dirty="0"/>
          </a:p>
        </p:txBody>
      </p:sp>
      <p:sp>
        <p:nvSpPr>
          <p:cNvPr id="6" name="Text 4"/>
          <p:cNvSpPr/>
          <p:nvPr/>
        </p:nvSpPr>
        <p:spPr>
          <a:xfrm>
            <a:off x="106829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h-TH" altLang="en-US" sz="1000" dirty="0">
                <a:solidFill>
                  <a:srgbClr val="A9A49A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3</a:t>
            </a:r>
            <a:endParaRPr lang="th-TH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2240280"/>
            <a:ext cx="0" cy="320040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783080"/>
            <a:ext cx="457200" cy="457200"/>
          </a:xfrm>
          <a:prstGeom prst="ellipse">
            <a:avLst/>
          </a:prstGeom>
          <a:solidFill>
            <a:srgbClr val="B8502E"/>
          </a:solidFill>
          <a:ln w="12700">
            <a:solidFill>
              <a:srgbClr val="B85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th-TH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78308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ค้นหาในเมล</a:t>
            </a:r>
            <a:endParaRPr lang="th-TH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11226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77736B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ใช้ชื่อบริษัท หรือชื่อบุคคล</a:t>
            </a:r>
            <a:endParaRPr lang="th-TH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514600"/>
            <a:ext cx="457200" cy="457200"/>
          </a:xfrm>
          <a:prstGeom prst="ellipse">
            <a:avLst/>
          </a:prstGeom>
          <a:solidFill>
            <a:srgbClr val="B8502E"/>
          </a:solidFill>
          <a:ln w="12700">
            <a:solidFill>
              <a:srgbClr val="B85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th-TH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59689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เจอเมลแล้ว ดาวน์โหลด PDF</a:t>
            </a:r>
            <a:endParaRPr lang="th-TH" sz="1600" dirty="0"/>
          </a:p>
        </p:txBody>
      </p:sp>
      <p:sp>
        <p:nvSpPr>
          <p:cNvPr id="15" name="Shape 13"/>
          <p:cNvSpPr/>
          <p:nvPr/>
        </p:nvSpPr>
        <p:spPr>
          <a:xfrm>
            <a:off x="594360" y="3246120"/>
            <a:ext cx="457200" cy="457200"/>
          </a:xfrm>
          <a:prstGeom prst="ellipse">
            <a:avLst/>
          </a:prstGeom>
          <a:solidFill>
            <a:srgbClr val="B8502E"/>
          </a:solidFill>
          <a:ln w="12700">
            <a:solidFill>
              <a:srgbClr val="B850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th-TH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32841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ปริ้นออกมาเป็นกระดาษ</a:t>
            </a:r>
            <a:endParaRPr lang="th-TH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3977640"/>
            <a:ext cx="457200" cy="457200"/>
          </a:xfrm>
          <a:prstGeom prst="ellipse">
            <a:avLst/>
          </a:prstGeom>
          <a:solidFill>
            <a:srgbClr val="B8502E"/>
          </a:solidFill>
          <a:ln w="12700">
            <a:solidFill>
              <a:srgbClr val="B85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th-TH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405993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คีย์ข้อมูลลงไฟล์</a:t>
            </a:r>
            <a:endParaRPr lang="th-TH" sz="1600" dirty="0"/>
          </a:p>
        </p:txBody>
      </p:sp>
      <p:sp>
        <p:nvSpPr>
          <p:cNvPr id="21" name="Shape 19"/>
          <p:cNvSpPr/>
          <p:nvPr/>
        </p:nvSpPr>
        <p:spPr>
          <a:xfrm>
            <a:off x="594360" y="4709160"/>
            <a:ext cx="457200" cy="457200"/>
          </a:xfrm>
          <a:prstGeom prst="ellipse">
            <a:avLst/>
          </a:prstGeom>
          <a:solidFill>
            <a:srgbClr val="B8502E"/>
          </a:solidFill>
          <a:ln w="12700">
            <a:solidFill>
              <a:srgbClr val="B85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th-TH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70916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ส่งไฟล์ให้น้องนิว</a:t>
            </a:r>
            <a:endParaRPr lang="th-TH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503834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77736B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แยกไฟล์ตามคนทำ ส่งทุกวัน</a:t>
            </a:r>
            <a:endParaRPr lang="th-TH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5440680"/>
            <a:ext cx="457200" cy="457200"/>
          </a:xfrm>
          <a:prstGeom prst="ellipse">
            <a:avLst/>
          </a:prstGeom>
          <a:solidFill>
            <a:srgbClr val="B8502E"/>
          </a:solidFill>
          <a:ln w="12700">
            <a:solidFill>
              <a:srgbClr val="B850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th-TH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544068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ส่งกระดาษที่ปริ้นให้บัญชี</a:t>
            </a:r>
            <a:endParaRPr lang="th-TH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576986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77736B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ส่งทุกวัน</a:t>
            </a:r>
            <a:endParaRPr lang="th-TH" sz="1200" dirty="0"/>
          </a:p>
        </p:txBody>
      </p:sp>
      <p:sp>
        <p:nvSpPr>
          <p:cNvPr id="29" name="Shape 27"/>
          <p:cNvSpPr/>
          <p:nvPr/>
        </p:nvSpPr>
        <p:spPr>
          <a:xfrm>
            <a:off x="7680960" y="1874520"/>
            <a:ext cx="39319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9560" y="20574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Group Mail ที่ต้องค้น</a:t>
            </a:r>
            <a:endParaRPr lang="th-TH" sz="1500" dirty="0"/>
          </a:p>
        </p:txBody>
      </p:sp>
      <p:sp>
        <p:nvSpPr>
          <p:cNvPr id="31" name="Shape 29"/>
          <p:cNvSpPr/>
          <p:nvPr/>
        </p:nvSpPr>
        <p:spPr>
          <a:xfrm>
            <a:off x="7909560" y="2560320"/>
            <a:ext cx="1691640" cy="402336"/>
          </a:xfrm>
          <a:prstGeom prst="roundRect">
            <a:avLst>
              <a:gd name="adj" fmla="val 22727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9560" y="25603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ETAX_TRUE</a:t>
            </a:r>
            <a:endParaRPr lang="th-TH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2560320"/>
            <a:ext cx="1691640" cy="402336"/>
          </a:xfrm>
          <a:prstGeom prst="roundRect">
            <a:avLst>
              <a:gd name="adj" fmla="val 22727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92640" y="25603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ETAX_Receipt_SM</a:t>
            </a:r>
            <a:endParaRPr lang="th-TH" sz="1200" dirty="0"/>
          </a:p>
        </p:txBody>
      </p:sp>
      <p:sp>
        <p:nvSpPr>
          <p:cNvPr id="35" name="Shape 33"/>
          <p:cNvSpPr/>
          <p:nvPr/>
        </p:nvSpPr>
        <p:spPr>
          <a:xfrm>
            <a:off x="7909560" y="3108960"/>
            <a:ext cx="1691640" cy="402336"/>
          </a:xfrm>
          <a:prstGeom prst="roundRect">
            <a:avLst>
              <a:gd name="adj" fmla="val 22727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09560" y="310896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ETAX_Invoice</a:t>
            </a:r>
            <a:endParaRPr lang="th-TH" sz="1200" dirty="0"/>
          </a:p>
        </p:txBody>
      </p:sp>
      <p:sp>
        <p:nvSpPr>
          <p:cNvPr id="37" name="Shape 35"/>
          <p:cNvSpPr/>
          <p:nvPr/>
        </p:nvSpPr>
        <p:spPr>
          <a:xfrm>
            <a:off x="9692640" y="3108960"/>
            <a:ext cx="1691640" cy="402336"/>
          </a:xfrm>
          <a:prstGeom prst="roundRect">
            <a:avLst>
              <a:gd name="adj" fmla="val 22727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92640" y="310896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CPN_TRUE</a:t>
            </a:r>
            <a:endParaRPr lang="th-TH" sz="1200" dirty="0"/>
          </a:p>
        </p:txBody>
      </p:sp>
      <p:sp>
        <p:nvSpPr>
          <p:cNvPr id="39" name="Shape 37"/>
          <p:cNvSpPr/>
          <p:nvPr/>
        </p:nvSpPr>
        <p:spPr>
          <a:xfrm>
            <a:off x="7909560" y="3657600"/>
            <a:ext cx="1691640" cy="402336"/>
          </a:xfrm>
          <a:prstGeom prst="roundRect">
            <a:avLst>
              <a:gd name="adj" fmla="val 22727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09560" y="365760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IBC</a:t>
            </a:r>
            <a:endParaRPr lang="th-TH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3657600"/>
            <a:ext cx="1691640" cy="402336"/>
          </a:xfrm>
          <a:prstGeom prst="roundRect">
            <a:avLst>
              <a:gd name="adj" fmla="val 22727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92640" y="365760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MACRO</a:t>
            </a:r>
            <a:endParaRPr lang="th-TH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b="1" spc="100" kern="0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/03</a:t>
            </a:r>
            <a:endParaRPr lang="th-TH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8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ช่องทาง 2  เอกสารกระดาษ</a:t>
            </a:r>
            <a:endParaRPr lang="th-TH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1002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rgbClr val="77736B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เอกสารตัวจริงที่ส่งเข้ามา ผ่านมือ 2 คนก่อนคีย์ลงไฟล์</a:t>
            </a:r>
            <a:endParaRPr lang="th-TH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dirty="0">
                <a:solidFill>
                  <a:srgbClr val="A9A49A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Pending VAT  ขั้นตอนการทำงาน</a:t>
            </a:r>
            <a:endParaRPr lang="th-TH" sz="1000" dirty="0"/>
          </a:p>
        </p:txBody>
      </p:sp>
      <p:sp>
        <p:nvSpPr>
          <p:cNvPr id="6" name="Text 4"/>
          <p:cNvSpPr/>
          <p:nvPr/>
        </p:nvSpPr>
        <p:spPr>
          <a:xfrm>
            <a:off x="106829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h-TH" altLang="en-US" sz="1000" dirty="0">
                <a:solidFill>
                  <a:srgbClr val="A9A49A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4</a:t>
            </a:r>
            <a:endParaRPr lang="th-TH" sz="1000" dirty="0"/>
          </a:p>
        </p:txBody>
      </p:sp>
      <p:sp>
        <p:nvSpPr>
          <p:cNvPr id="7" name="Shape 5"/>
          <p:cNvSpPr/>
          <p:nvPr/>
        </p:nvSpPr>
        <p:spPr>
          <a:xfrm>
            <a:off x="723748" y="2651760"/>
            <a:ext cx="2377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4916" y="288036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100" b="1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 1</a:t>
            </a:r>
            <a:endParaRPr lang="th-TH" sz="1100" dirty="0"/>
          </a:p>
        </p:txBody>
      </p:sp>
      <p:sp>
        <p:nvSpPr>
          <p:cNvPr id="9" name="Text 7"/>
          <p:cNvSpPr/>
          <p:nvPr/>
        </p:nvSpPr>
        <p:spPr>
          <a:xfrm>
            <a:off x="924916" y="320040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เอกสารเข้ามา</a:t>
            </a:r>
            <a:endParaRPr lang="th-TH" sz="1800" dirty="0"/>
          </a:p>
        </p:txBody>
      </p:sp>
      <p:sp>
        <p:nvSpPr>
          <p:cNvPr id="10" name="Text 8"/>
          <p:cNvSpPr/>
          <p:nvPr/>
        </p:nvSpPr>
        <p:spPr>
          <a:xfrm>
            <a:off x="924916" y="402336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77736B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ใบเสร็จรับเงิน และใบกำกับภาษี</a:t>
            </a:r>
            <a:endParaRPr lang="th-TH" sz="1200" dirty="0"/>
          </a:p>
        </p:txBody>
      </p:sp>
      <p:sp>
        <p:nvSpPr>
          <p:cNvPr id="11" name="Shape 9"/>
          <p:cNvSpPr/>
          <p:nvPr/>
        </p:nvSpPr>
        <p:spPr>
          <a:xfrm>
            <a:off x="3101188" y="3726180"/>
            <a:ext cx="41148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12668" y="2651760"/>
            <a:ext cx="2377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3836" y="288036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100" b="1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 2</a:t>
            </a:r>
            <a:endParaRPr lang="th-TH" sz="1100" dirty="0"/>
          </a:p>
        </p:txBody>
      </p:sp>
      <p:sp>
        <p:nvSpPr>
          <p:cNvPr id="14" name="Text 12"/>
          <p:cNvSpPr/>
          <p:nvPr/>
        </p:nvSpPr>
        <p:spPr>
          <a:xfrm>
            <a:off x="3713836" y="320040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แยกของ</a:t>
            </a:r>
            <a:endParaRPr lang="th-TH" sz="1800" dirty="0"/>
          </a:p>
        </p:txBody>
      </p:sp>
      <p:sp>
        <p:nvSpPr>
          <p:cNvPr id="15" name="Shape 13"/>
          <p:cNvSpPr/>
          <p:nvPr/>
        </p:nvSpPr>
        <p:spPr>
          <a:xfrm>
            <a:off x="3713836" y="40233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6E9E3"/>
          </a:solidFill>
          <a:ln w="12700">
            <a:solidFill>
              <a:srgbClr val="F6E9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3836" y="40233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100" b="1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พี่ไอซ์</a:t>
            </a:r>
            <a:endParaRPr lang="th-TH" sz="1100" dirty="0"/>
          </a:p>
        </p:txBody>
      </p:sp>
      <p:sp>
        <p:nvSpPr>
          <p:cNvPr id="17" name="Shape 15"/>
          <p:cNvSpPr/>
          <p:nvPr/>
        </p:nvSpPr>
        <p:spPr>
          <a:xfrm>
            <a:off x="5890108" y="3726180"/>
            <a:ext cx="41148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01588" y="2651760"/>
            <a:ext cx="2377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2756" y="288036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100" b="1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 3</a:t>
            </a:r>
            <a:endParaRPr lang="th-TH" sz="1100" dirty="0"/>
          </a:p>
        </p:txBody>
      </p:sp>
      <p:sp>
        <p:nvSpPr>
          <p:cNvPr id="20" name="Text 18"/>
          <p:cNvSpPr/>
          <p:nvPr/>
        </p:nvSpPr>
        <p:spPr>
          <a:xfrm>
            <a:off x="6502756" y="320040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แกะ และแยกตามบริษัท</a:t>
            </a:r>
            <a:endParaRPr lang="th-TH" sz="1800" dirty="0"/>
          </a:p>
        </p:txBody>
      </p:sp>
      <p:sp>
        <p:nvSpPr>
          <p:cNvPr id="21" name="Shape 19"/>
          <p:cNvSpPr/>
          <p:nvPr/>
        </p:nvSpPr>
        <p:spPr>
          <a:xfrm>
            <a:off x="6502756" y="40233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6E9E3"/>
          </a:solidFill>
          <a:ln w="12700">
            <a:solidFill>
              <a:srgbClr val="F6E9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2756" y="40233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100" b="1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แพร</a:t>
            </a:r>
            <a:endParaRPr lang="th-TH" sz="1100" dirty="0"/>
          </a:p>
        </p:txBody>
      </p:sp>
      <p:sp>
        <p:nvSpPr>
          <p:cNvPr id="23" name="Text 21"/>
          <p:cNvSpPr/>
          <p:nvPr/>
        </p:nvSpPr>
        <p:spPr>
          <a:xfrm>
            <a:off x="6502756" y="4462272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77736B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แพรดูของบ้าน T</a:t>
            </a:r>
            <a:endParaRPr lang="th-TH" sz="1200" dirty="0"/>
          </a:p>
        </p:txBody>
      </p:sp>
      <p:sp>
        <p:nvSpPr>
          <p:cNvPr id="24" name="Shape 22"/>
          <p:cNvSpPr/>
          <p:nvPr/>
        </p:nvSpPr>
        <p:spPr>
          <a:xfrm>
            <a:off x="8679028" y="3726180"/>
            <a:ext cx="411480" cy="0"/>
          </a:xfrm>
          <a:prstGeom prst="line">
            <a:avLst/>
          </a:prstGeom>
          <a:noFill/>
          <a:ln w="15875">
            <a:solidFill>
              <a:srgbClr val="A9A49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90508" y="2651760"/>
            <a:ext cx="2377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A9A49A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291676" y="288036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100" b="1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 4</a:t>
            </a:r>
            <a:endParaRPr lang="th-TH" sz="1100" dirty="0"/>
          </a:p>
        </p:txBody>
      </p:sp>
      <p:sp>
        <p:nvSpPr>
          <p:cNvPr id="27" name="Text 25"/>
          <p:cNvSpPr/>
          <p:nvPr/>
        </p:nvSpPr>
        <p:spPr>
          <a:xfrm>
            <a:off x="9291676" y="320040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คีย์ลงไฟล์ ส่งน้องนิว</a:t>
            </a:r>
            <a:endParaRPr lang="th-TH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b="1" spc="100" kern="0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/04</a:t>
            </a:r>
            <a:endParaRPr lang="th-TH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8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รอบการทำงานในหนึ่งสัปดาห์</a:t>
            </a:r>
            <a:endParaRPr lang="th-TH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1002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rgbClr val="77736B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ทุกวันมีไฟล์จากบ้าน TRUE  พุธได้ไฟล์บ้าน DTAC  ศุกร์อัปเดต Report</a:t>
            </a:r>
            <a:endParaRPr lang="th-TH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dirty="0">
                <a:solidFill>
                  <a:srgbClr val="A9A49A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Pending VAT  ขั้นตอนการทำงาน</a:t>
            </a:r>
            <a:endParaRPr lang="th-TH" sz="1000" dirty="0"/>
          </a:p>
        </p:txBody>
      </p:sp>
      <p:sp>
        <p:nvSpPr>
          <p:cNvPr id="6" name="Text 4"/>
          <p:cNvSpPr/>
          <p:nvPr/>
        </p:nvSpPr>
        <p:spPr>
          <a:xfrm>
            <a:off x="106829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h-TH" altLang="en-US" sz="1000" dirty="0">
                <a:solidFill>
                  <a:srgbClr val="A9A49A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5</a:t>
            </a:r>
            <a:endParaRPr lang="th-TH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5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จันทร์</a:t>
            </a:r>
            <a:endParaRPr lang="th-TH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240280"/>
            <a:ext cx="2057400" cy="2971800"/>
          </a:xfrm>
          <a:prstGeom prst="roundRect">
            <a:avLst>
              <a:gd name="adj" fmla="val 4444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8288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5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อังคาร</a:t>
            </a:r>
            <a:endParaRPr lang="th-TH" sz="1500" dirty="0"/>
          </a:p>
        </p:txBody>
      </p:sp>
      <p:sp>
        <p:nvSpPr>
          <p:cNvPr id="10" name="Shape 8"/>
          <p:cNvSpPr/>
          <p:nvPr/>
        </p:nvSpPr>
        <p:spPr>
          <a:xfrm>
            <a:off x="2834640" y="2240280"/>
            <a:ext cx="2057400" cy="2971800"/>
          </a:xfrm>
          <a:prstGeom prst="roundRect">
            <a:avLst>
              <a:gd name="adj" fmla="val 4444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8288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500" b="1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พุธ</a:t>
            </a:r>
            <a:endParaRPr lang="th-TH" sz="1500" dirty="0"/>
          </a:p>
        </p:txBody>
      </p:sp>
      <p:sp>
        <p:nvSpPr>
          <p:cNvPr id="12" name="Shape 10"/>
          <p:cNvSpPr/>
          <p:nvPr/>
        </p:nvSpPr>
        <p:spPr>
          <a:xfrm>
            <a:off x="5074920" y="2240280"/>
            <a:ext cx="2057400" cy="2971800"/>
          </a:xfrm>
          <a:prstGeom prst="roundRect">
            <a:avLst>
              <a:gd name="adj" fmla="val 4444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18288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5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พฤหัสบดี</a:t>
            </a:r>
            <a:endParaRPr lang="th-TH" sz="1500" dirty="0"/>
          </a:p>
        </p:txBody>
      </p:sp>
      <p:sp>
        <p:nvSpPr>
          <p:cNvPr id="14" name="Shape 12"/>
          <p:cNvSpPr/>
          <p:nvPr/>
        </p:nvSpPr>
        <p:spPr>
          <a:xfrm>
            <a:off x="7315200" y="2240280"/>
            <a:ext cx="2057400" cy="2971800"/>
          </a:xfrm>
          <a:prstGeom prst="roundRect">
            <a:avLst>
              <a:gd name="adj" fmla="val 4444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55480" y="18288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500" b="1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ศุกร์</a:t>
            </a:r>
            <a:endParaRPr lang="th-TH" sz="1500" dirty="0"/>
          </a:p>
        </p:txBody>
      </p:sp>
      <p:sp>
        <p:nvSpPr>
          <p:cNvPr id="16" name="Shape 14"/>
          <p:cNvSpPr/>
          <p:nvPr/>
        </p:nvSpPr>
        <p:spPr>
          <a:xfrm>
            <a:off x="9555480" y="2240280"/>
            <a:ext cx="2057400" cy="2971800"/>
          </a:xfrm>
          <a:prstGeom prst="roundRect">
            <a:avLst>
              <a:gd name="adj" fmla="val 4444"/>
            </a:avLst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468880"/>
            <a:ext cx="10744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468880"/>
            <a:ext cx="10195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ทุกวัน   </a:t>
            </a:r>
            <a:pPr indent="0" marL="0">
              <a:buNone/>
            </a:pPr>
            <a:r>
              <a:rPr lang="th-TH" altLang="en-US" sz="1500" dirty="0">
                <a:solidFill>
                  <a:srgbClr val="23221F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ทีมตามบ้าน TRUE ส่งไฟล์ให้น้องนิว และส่งกระดาษที่ปริ้นให้บัญชี</a:t>
            </a:r>
            <a:endParaRPr lang="th-TH" sz="1500" dirty="0"/>
          </a:p>
        </p:txBody>
      </p:sp>
      <p:sp>
        <p:nvSpPr>
          <p:cNvPr id="19" name="Shape 17"/>
          <p:cNvSpPr/>
          <p:nvPr/>
        </p:nvSpPr>
        <p:spPr>
          <a:xfrm>
            <a:off x="5184648" y="3520440"/>
            <a:ext cx="183794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B850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67528" y="3721608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พี่บิว</a:t>
            </a:r>
            <a:endParaRPr lang="th-TH" sz="1800" dirty="0"/>
          </a:p>
        </p:txBody>
      </p:sp>
      <p:sp>
        <p:nvSpPr>
          <p:cNvPr id="21" name="Text 19"/>
          <p:cNvSpPr/>
          <p:nvPr/>
        </p:nvSpPr>
        <p:spPr>
          <a:xfrm>
            <a:off x="5367528" y="4160520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77736B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บ้าน DTAC</a:t>
            </a:r>
            <a:endParaRPr lang="th-TH" sz="1200" dirty="0"/>
          </a:p>
          <a:p>
            <a:pPr indent="0" marL="0">
              <a:buNone/>
            </a:pPr>
            <a:r>
              <a:rPr lang="th-TH" altLang="en-US" sz="1200" dirty="0">
                <a:solidFill>
                  <a:srgbClr val="77736B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คีย์ลงไฟล์</a:t>
            </a:r>
            <a:endParaRPr lang="th-TH" sz="1200" dirty="0"/>
          </a:p>
          <a:p>
            <a:pPr indent="0" marL="0">
              <a:buNone/>
            </a:pPr>
            <a:r>
              <a:rPr lang="th-TH" altLang="en-US" sz="1200" dirty="0">
                <a:solidFill>
                  <a:srgbClr val="77736B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ส่งให้น้องนิว</a:t>
            </a:r>
            <a:endParaRPr lang="th-TH" sz="1200" dirty="0"/>
          </a:p>
        </p:txBody>
      </p:sp>
      <p:sp>
        <p:nvSpPr>
          <p:cNvPr id="22" name="Shape 20"/>
          <p:cNvSpPr/>
          <p:nvPr/>
        </p:nvSpPr>
        <p:spPr>
          <a:xfrm>
            <a:off x="9665208" y="3520440"/>
            <a:ext cx="1837944" cy="1554480"/>
          </a:xfrm>
          <a:prstGeom prst="roundRect">
            <a:avLst>
              <a:gd name="adj" fmla="val 4706"/>
            </a:avLst>
          </a:prstGeom>
          <a:solidFill>
            <a:srgbClr val="B8502E"/>
          </a:solidFill>
          <a:ln w="15875">
            <a:solidFill>
              <a:srgbClr val="B85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48088" y="3721608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น้องนิว</a:t>
            </a:r>
            <a:endParaRPr lang="th-TH" sz="1800" dirty="0"/>
          </a:p>
        </p:txBody>
      </p:sp>
      <p:sp>
        <p:nvSpPr>
          <p:cNvPr id="24" name="Text 22"/>
          <p:cNvSpPr/>
          <p:nvPr/>
        </p:nvSpPr>
        <p:spPr>
          <a:xfrm>
            <a:off x="9848088" y="4160520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rgbClr val="FFFFFF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อัปเดต Report</a:t>
            </a:r>
            <a:endParaRPr lang="th-TH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b="1" spc="100" kern="0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/05</a:t>
            </a:r>
            <a:endParaRPr lang="th-TH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8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ใครทำอะไร</a:t>
            </a:r>
            <a:endParaRPr lang="th-TH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1002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rgbClr val="77736B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เรียงตามทางเดินของเอกสาร</a:t>
            </a:r>
            <a:endParaRPr lang="th-TH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dirty="0">
                <a:solidFill>
                  <a:srgbClr val="A9A49A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Pending VAT  ขั้นตอนการทำงาน</a:t>
            </a:r>
            <a:endParaRPr lang="th-TH" sz="1000" dirty="0"/>
          </a:p>
        </p:txBody>
      </p:sp>
      <p:sp>
        <p:nvSpPr>
          <p:cNvPr id="6" name="Text 4"/>
          <p:cNvSpPr/>
          <p:nvPr/>
        </p:nvSpPr>
        <p:spPr>
          <a:xfrm>
            <a:off x="1068293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h-TH" altLang="en-US" sz="1000" dirty="0">
                <a:solidFill>
                  <a:srgbClr val="A9A49A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6</a:t>
            </a:r>
            <a:endParaRPr lang="th-TH" sz="1000" dirty="0"/>
          </a:p>
        </p:txBody>
      </p:sp>
      <p:sp>
        <p:nvSpPr>
          <p:cNvPr id="7" name="Shape 5"/>
          <p:cNvSpPr/>
          <p:nvPr/>
        </p:nvSpPr>
        <p:spPr>
          <a:xfrm>
            <a:off x="472288" y="2148840"/>
            <a:ext cx="2103120" cy="26060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0888" y="24048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2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พี่ไอซ์</a:t>
            </a:r>
            <a:endParaRPr lang="th-TH" sz="2200" dirty="0"/>
          </a:p>
        </p:txBody>
      </p:sp>
      <p:sp>
        <p:nvSpPr>
          <p:cNvPr id="9" name="Shape 7"/>
          <p:cNvSpPr/>
          <p:nvPr/>
        </p:nvSpPr>
        <p:spPr>
          <a:xfrm>
            <a:off x="700888" y="29718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6E9E3"/>
          </a:solidFill>
          <a:ln w="12700">
            <a:solidFill>
              <a:srgbClr val="F6E9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0888" y="2971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100" b="1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เอกสารกระดาษ</a:t>
            </a:r>
            <a:endParaRPr lang="th-TH" sz="1100" dirty="0"/>
          </a:p>
        </p:txBody>
      </p:sp>
      <p:sp>
        <p:nvSpPr>
          <p:cNvPr id="11" name="Text 9"/>
          <p:cNvSpPr/>
          <p:nvPr/>
        </p:nvSpPr>
        <p:spPr>
          <a:xfrm>
            <a:off x="700888" y="3520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th-TH" altLang="en-US" sz="1200" dirty="0">
                <a:solidFill>
                  <a:srgbClr val="23221F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แยกของเอกสารที่เข้ามา</a:t>
            </a:r>
            <a:endParaRPr lang="th-TH" sz="1200" dirty="0"/>
          </a:p>
        </p:txBody>
      </p:sp>
      <p:sp>
        <p:nvSpPr>
          <p:cNvPr id="12" name="Shape 10"/>
          <p:cNvSpPr/>
          <p:nvPr/>
        </p:nvSpPr>
        <p:spPr>
          <a:xfrm>
            <a:off x="2758288" y="2148840"/>
            <a:ext cx="2103120" cy="26060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6888" y="24048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2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แพร</a:t>
            </a:r>
            <a:endParaRPr lang="th-TH" sz="2200" dirty="0"/>
          </a:p>
        </p:txBody>
      </p:sp>
      <p:sp>
        <p:nvSpPr>
          <p:cNvPr id="14" name="Shape 12"/>
          <p:cNvSpPr/>
          <p:nvPr/>
        </p:nvSpPr>
        <p:spPr>
          <a:xfrm>
            <a:off x="2986888" y="29718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6E9E3"/>
          </a:solidFill>
          <a:ln w="12700">
            <a:solidFill>
              <a:srgbClr val="F6E9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6888" y="2971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100" b="1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ทีมตาม TRUE</a:t>
            </a:r>
            <a:endParaRPr lang="th-TH" sz="1100" dirty="0"/>
          </a:p>
        </p:txBody>
      </p:sp>
      <p:sp>
        <p:nvSpPr>
          <p:cNvPr id="16" name="Text 14"/>
          <p:cNvSpPr/>
          <p:nvPr/>
        </p:nvSpPr>
        <p:spPr>
          <a:xfrm>
            <a:off x="2986888" y="3520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th-TH" altLang="en-US" sz="1200" dirty="0">
                <a:solidFill>
                  <a:srgbClr val="23221F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แกะ และแยกเอกสารกระดาษตามบริษัท</a:t>
            </a:r>
            <a:endParaRPr lang="th-TH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th-TH" altLang="en-US" sz="1200" dirty="0">
                <a:solidFill>
                  <a:srgbClr val="23221F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ดูของบ้าน T</a:t>
            </a:r>
            <a:endParaRPr lang="th-TH" sz="1200" dirty="0"/>
          </a:p>
        </p:txBody>
      </p:sp>
      <p:sp>
        <p:nvSpPr>
          <p:cNvPr id="17" name="Shape 15"/>
          <p:cNvSpPr/>
          <p:nvPr/>
        </p:nvSpPr>
        <p:spPr>
          <a:xfrm>
            <a:off x="5044288" y="2148840"/>
            <a:ext cx="2103120" cy="26060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72888" y="24048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2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พี่นุช</a:t>
            </a:r>
            <a:endParaRPr lang="th-TH" sz="2200" dirty="0"/>
          </a:p>
        </p:txBody>
      </p:sp>
      <p:sp>
        <p:nvSpPr>
          <p:cNvPr id="19" name="Shape 17"/>
          <p:cNvSpPr/>
          <p:nvPr/>
        </p:nvSpPr>
        <p:spPr>
          <a:xfrm>
            <a:off x="5272888" y="29718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6E9E3"/>
          </a:solidFill>
          <a:ln w="12700">
            <a:solidFill>
              <a:srgbClr val="F6E9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2888" y="2971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100" b="1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ทีมตาม TRUE</a:t>
            </a:r>
            <a:endParaRPr lang="th-TH" sz="1100" dirty="0"/>
          </a:p>
        </p:txBody>
      </p:sp>
      <p:sp>
        <p:nvSpPr>
          <p:cNvPr id="21" name="Text 19"/>
          <p:cNvSpPr/>
          <p:nvPr/>
        </p:nvSpPr>
        <p:spPr>
          <a:xfrm>
            <a:off x="5272888" y="3520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th-TH" altLang="en-US" sz="1200" dirty="0">
                <a:solidFill>
                  <a:srgbClr val="23221F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ตามยอดของ BD&amp;T บ้าน TRUE</a:t>
            </a:r>
            <a:endParaRPr lang="th-TH" sz="1200" dirty="0"/>
          </a:p>
        </p:txBody>
      </p:sp>
      <p:sp>
        <p:nvSpPr>
          <p:cNvPr id="22" name="Shape 20"/>
          <p:cNvSpPr/>
          <p:nvPr/>
        </p:nvSpPr>
        <p:spPr>
          <a:xfrm>
            <a:off x="7330288" y="2148840"/>
            <a:ext cx="2103120" cy="26060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8888" y="24048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2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พี่บิว</a:t>
            </a:r>
            <a:endParaRPr lang="th-TH" sz="2200" dirty="0"/>
          </a:p>
        </p:txBody>
      </p:sp>
      <p:sp>
        <p:nvSpPr>
          <p:cNvPr id="24" name="Shape 22"/>
          <p:cNvSpPr/>
          <p:nvPr/>
        </p:nvSpPr>
        <p:spPr>
          <a:xfrm>
            <a:off x="7558888" y="29718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6E9E3"/>
          </a:solidFill>
          <a:ln w="12700">
            <a:solidFill>
              <a:srgbClr val="F6E9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58888" y="2971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100" b="1" dirty="0">
                <a:solidFill>
                  <a:srgbClr val="B8502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ทีมตาม DTAC</a:t>
            </a:r>
            <a:endParaRPr lang="th-TH" sz="1100" dirty="0"/>
          </a:p>
        </p:txBody>
      </p:sp>
      <p:sp>
        <p:nvSpPr>
          <p:cNvPr id="26" name="Text 24"/>
          <p:cNvSpPr/>
          <p:nvPr/>
        </p:nvSpPr>
        <p:spPr>
          <a:xfrm>
            <a:off x="7558888" y="3520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th-TH" altLang="en-US" sz="1200" dirty="0">
                <a:solidFill>
                  <a:srgbClr val="23221F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ตามเอกสารบ้าน DTAC</a:t>
            </a:r>
            <a:endParaRPr lang="th-TH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th-TH" altLang="en-US" sz="1200" dirty="0">
                <a:solidFill>
                  <a:srgbClr val="23221F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คีย์ลงไฟล์</a:t>
            </a:r>
            <a:endParaRPr lang="th-TH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th-TH" altLang="en-US" sz="1200" dirty="0">
                <a:solidFill>
                  <a:srgbClr val="23221F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ส่งน้องนิวทุกวันพุธ</a:t>
            </a:r>
            <a:endParaRPr lang="th-TH" sz="1200" dirty="0"/>
          </a:p>
        </p:txBody>
      </p:sp>
      <p:sp>
        <p:nvSpPr>
          <p:cNvPr id="27" name="Shape 25"/>
          <p:cNvSpPr/>
          <p:nvPr/>
        </p:nvSpPr>
        <p:spPr>
          <a:xfrm>
            <a:off x="9616288" y="2148840"/>
            <a:ext cx="2103120" cy="26060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B850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44888" y="24048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200" b="1" dirty="0">
                <a:solidFill>
                  <a:srgbClr val="23221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น้องนิว</a:t>
            </a:r>
            <a:endParaRPr lang="th-TH" sz="2200" dirty="0"/>
          </a:p>
        </p:txBody>
      </p:sp>
      <p:sp>
        <p:nvSpPr>
          <p:cNvPr id="29" name="Shape 27"/>
          <p:cNvSpPr/>
          <p:nvPr/>
        </p:nvSpPr>
        <p:spPr>
          <a:xfrm>
            <a:off x="9844888" y="29718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B8502E"/>
          </a:solidFill>
          <a:ln w="12700">
            <a:solidFill>
              <a:srgbClr val="B850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44888" y="2971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1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ทีมตาม TRUE</a:t>
            </a:r>
            <a:endParaRPr lang="th-TH" sz="1100" dirty="0"/>
          </a:p>
        </p:txBody>
      </p:sp>
      <p:sp>
        <p:nvSpPr>
          <p:cNvPr id="31" name="Text 29"/>
          <p:cNvSpPr/>
          <p:nvPr/>
        </p:nvSpPr>
        <p:spPr>
          <a:xfrm>
            <a:off x="9844888" y="3520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th-TH" altLang="en-US" sz="1200" dirty="0">
                <a:solidFill>
                  <a:srgbClr val="23221F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รับไฟล์จากทุกคน</a:t>
            </a:r>
            <a:endParaRPr lang="th-TH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th-TH" altLang="en-US" sz="1200" dirty="0">
                <a:solidFill>
                  <a:srgbClr val="23221F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ทำไฟล์เปลี่ยน Status Pending → Waiting</a:t>
            </a:r>
            <a:endParaRPr lang="th-TH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th-TH" altLang="en-US" sz="1200" dirty="0">
                <a:solidFill>
                  <a:srgbClr val="23221F"/>
                </a:solidFill>
                <a:latin typeface="Leelawadee UI Semilight" pitchFamily="34" charset="0"/>
                <a:ea typeface="Leelawadee UI Semilight" pitchFamily="34" charset="-122"/>
                <a:cs typeface="Leelawadee UI Semilight" pitchFamily="34" charset="-120"/>
              </a:rPr>
              <a:t>อัปเดต Report ทุกวันศุกร์</a:t>
            </a:r>
            <a:endParaRPr lang="th-TH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eelawade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 Semi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ขั้นตอนการทำงาน Pending VAT</dc:title>
  <dc:subject>PptxGenJS Presentation</dc:subject>
  <dc:creator>PptxGenJS</dc:creator>
  <cp:lastModifiedBy>PptxGenJS</cp:lastModifiedBy>
  <cp:revision>1</cp:revision>
  <dcterms:created xsi:type="dcterms:W3CDTF">2026-09-24T08:35:16Z</dcterms:created>
  <dcterms:modified xsi:type="dcterms:W3CDTF">2026-09-24T08:35:16Z</dcterms:modified>
</cp:coreProperties>
</file>