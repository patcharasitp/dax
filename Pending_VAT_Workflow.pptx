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057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b="1" spc="400" kern="0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PENDING VAT</a:t>
            </a:r>
            <a:endParaRPr lang="th-TH" sz="1400" dirty="0"/>
          </a:p>
        </p:txBody>
      </p:sp>
      <p:sp>
        <p:nvSpPr>
          <p:cNvPr id="3" name="Text 1"/>
          <p:cNvSpPr/>
          <p:nvPr/>
        </p:nvSpPr>
        <p:spPr>
          <a:xfrm>
            <a:off x="868680" y="24231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ขั้นตอนการทำงาน Pending VAT</a:t>
            </a:r>
            <a:endParaRPr lang="th-TH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ตามหาใบเสร็จรับเงินและใบกำกับภาษี เพื่อ Claim VAT</a:t>
            </a:r>
            <a:endParaRPr lang="th-TH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5669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ทีมตามเอกสาร บ้าน TRUE และบ้าน DTAC</a:t>
            </a:r>
            <a:endParaRPr lang="th-TH" sz="1200" dirty="0"/>
          </a:p>
        </p:txBody>
      </p:sp>
      <p:sp>
        <p:nvSpPr>
          <p:cNvPr id="6" name="Shape 4"/>
          <p:cNvSpPr/>
          <p:nvPr/>
        </p:nvSpPr>
        <p:spPr>
          <a:xfrm rot="-360000">
            <a:off x="8732520" y="23317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AFAF8"/>
          </a:solidFill>
          <a:ln w="28575">
            <a:solidFill>
              <a:srgbClr val="B85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-360000">
            <a:off x="8732520" y="2331720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800" strike="sngStrike" dirty="0">
                <a:solidFill>
                  <a:srgbClr val="A9A49A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Pending</a:t>
            </a:r>
            <a:endParaRPr lang="th-TH" sz="1800" dirty="0"/>
          </a:p>
          <a:p>
            <a:pPr algn="ctr" indent="0" marL="0">
              <a:buNone/>
            </a:pPr>
            <a:r>
              <a:rPr lang="th-TH" altLang="en-US" sz="30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Waiting</a:t>
            </a:r>
            <a:endParaRPr lang="th-TH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spc="100" kern="0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/01</a:t>
            </a:r>
            <a:endParaRPr lang="th-TH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ภาพรวม เอกสารเดินทางยังไงจนถึง Report</a:t>
            </a:r>
            <a:endParaRPr lang="th-TH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98448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บ้าน TRUE ส่งไฟล์ทุกวัน  บ้าน DTAC ส่งทุกวันพุธ  น้องนิวอัปเดต Report ทุกวันศุกร์</a:t>
            </a:r>
            <a:endParaRPr lang="th-TH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Pending VAT  ขั้นตอนการทำงาน</a:t>
            </a:r>
            <a:endParaRPr lang="th-TH" sz="1000" dirty="0"/>
          </a:p>
        </p:txBody>
      </p:sp>
      <p:sp>
        <p:nvSpPr>
          <p:cNvPr id="6" name="Text 4"/>
          <p:cNvSpPr/>
          <p:nvPr/>
        </p:nvSpPr>
        <p:spPr>
          <a:xfrm>
            <a:off x="106829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2</a:t>
            </a:r>
            <a:endParaRPr lang="th-TH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7773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บ้าน TRUE</a:t>
            </a:r>
            <a:endParaRPr lang="th-TH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10312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24028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 1  E-Tax</a:t>
            </a:r>
            <a:endParaRPr lang="th-TH" sz="1500" dirty="0"/>
          </a:p>
        </p:txBody>
      </p:sp>
      <p:sp>
        <p:nvSpPr>
          <p:cNvPr id="10" name="Text 8"/>
          <p:cNvSpPr/>
          <p:nvPr/>
        </p:nvSpPr>
        <p:spPr>
          <a:xfrm>
            <a:off x="758952" y="257860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ค้นในอีเมล Group Mail</a:t>
            </a:r>
            <a:endParaRPr lang="th-TH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10896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324612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 2  กระดาษ</a:t>
            </a:r>
            <a:endParaRPr lang="th-TH" sz="1500" dirty="0"/>
          </a:p>
        </p:txBody>
      </p:sp>
      <p:sp>
        <p:nvSpPr>
          <p:cNvPr id="13" name="Text 11"/>
          <p:cNvSpPr/>
          <p:nvPr/>
        </p:nvSpPr>
        <p:spPr>
          <a:xfrm>
            <a:off x="758952" y="358444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พี่ไอซ์แยก แพรแยกตามบริษัท</a:t>
            </a:r>
            <a:endParaRPr lang="th-TH" sz="1200" dirty="0"/>
          </a:p>
        </p:txBody>
      </p:sp>
      <p:sp>
        <p:nvSpPr>
          <p:cNvPr id="14" name="Shape 12"/>
          <p:cNvSpPr/>
          <p:nvPr/>
        </p:nvSpPr>
        <p:spPr>
          <a:xfrm>
            <a:off x="3154680" y="260604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19272" y="2743200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คีย์ลงไฟล์</a:t>
            </a:r>
            <a:endParaRPr lang="th-TH" sz="1500" dirty="0"/>
          </a:p>
        </p:txBody>
      </p:sp>
      <p:sp>
        <p:nvSpPr>
          <p:cNvPr id="16" name="Text 14"/>
          <p:cNvSpPr/>
          <p:nvPr/>
        </p:nvSpPr>
        <p:spPr>
          <a:xfrm>
            <a:off x="3319272" y="3081528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แยกไฟล์ตามคนทำ</a:t>
            </a:r>
            <a:endParaRPr lang="th-TH" sz="1200" dirty="0"/>
          </a:p>
        </p:txBody>
      </p:sp>
      <p:sp>
        <p:nvSpPr>
          <p:cNvPr id="17" name="Shape 15"/>
          <p:cNvSpPr/>
          <p:nvPr/>
        </p:nvSpPr>
        <p:spPr>
          <a:xfrm>
            <a:off x="5349240" y="24917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13832" y="2628900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ส่งให้น้องนิว</a:t>
            </a:r>
            <a:endParaRPr lang="th-TH" sz="1500" dirty="0"/>
          </a:p>
        </p:txBody>
      </p:sp>
      <p:sp>
        <p:nvSpPr>
          <p:cNvPr id="19" name="Text 17"/>
          <p:cNvSpPr/>
          <p:nvPr/>
        </p:nvSpPr>
        <p:spPr>
          <a:xfrm>
            <a:off x="5513832" y="2967228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ไฟล์ และกระดาษที่ปริ้น</a:t>
            </a:r>
            <a:endParaRPr lang="th-TH" sz="1200" dirty="0"/>
          </a:p>
        </p:txBody>
      </p:sp>
      <p:sp>
        <p:nvSpPr>
          <p:cNvPr id="20" name="Shape 18"/>
          <p:cNvSpPr/>
          <p:nvPr/>
        </p:nvSpPr>
        <p:spPr>
          <a:xfrm>
            <a:off x="5513832" y="32232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13832" y="32232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ทุกวัน</a:t>
            </a:r>
            <a:endParaRPr lang="th-TH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44348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dirty="0">
                <a:solidFill>
                  <a:srgbClr val="7773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บ้าน DTAC</a:t>
            </a:r>
            <a:endParaRPr lang="th-TH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75488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" y="489204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ทีมตาม DTAC</a:t>
            </a:r>
            <a:endParaRPr lang="th-TH" sz="1500" dirty="0"/>
          </a:p>
        </p:txBody>
      </p:sp>
      <p:sp>
        <p:nvSpPr>
          <p:cNvPr id="25" name="Text 23"/>
          <p:cNvSpPr/>
          <p:nvPr/>
        </p:nvSpPr>
        <p:spPr>
          <a:xfrm>
            <a:off x="758952" y="5230368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พี่บิว</a:t>
            </a:r>
            <a:endParaRPr lang="th-TH" sz="1200" dirty="0"/>
          </a:p>
        </p:txBody>
      </p:sp>
      <p:sp>
        <p:nvSpPr>
          <p:cNvPr id="26" name="Shape 24"/>
          <p:cNvSpPr/>
          <p:nvPr/>
        </p:nvSpPr>
        <p:spPr>
          <a:xfrm>
            <a:off x="5349240" y="464058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4777740"/>
            <a:ext cx="1499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ส่งให้น้องนิว</a:t>
            </a:r>
            <a:endParaRPr lang="th-TH" sz="1500" dirty="0"/>
          </a:p>
        </p:txBody>
      </p:sp>
      <p:sp>
        <p:nvSpPr>
          <p:cNvPr id="28" name="Text 26"/>
          <p:cNvSpPr/>
          <p:nvPr/>
        </p:nvSpPr>
        <p:spPr>
          <a:xfrm>
            <a:off x="5513832" y="5116068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ไฟล์</a:t>
            </a:r>
            <a:endParaRPr lang="th-TH" sz="1200" dirty="0"/>
          </a:p>
        </p:txBody>
      </p:sp>
      <p:sp>
        <p:nvSpPr>
          <p:cNvPr id="29" name="Shape 27"/>
          <p:cNvSpPr/>
          <p:nvPr/>
        </p:nvSpPr>
        <p:spPr>
          <a:xfrm>
            <a:off x="5513832" y="537210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13832" y="5372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ทุกวันพุธ</a:t>
            </a:r>
            <a:endParaRPr lang="th-TH" sz="1100" dirty="0"/>
          </a:p>
        </p:txBody>
      </p:sp>
      <p:sp>
        <p:nvSpPr>
          <p:cNvPr id="31" name="Shape 29"/>
          <p:cNvSpPr/>
          <p:nvPr/>
        </p:nvSpPr>
        <p:spPr>
          <a:xfrm>
            <a:off x="7543800" y="33832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50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08392" y="3520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น้องนิว</a:t>
            </a:r>
            <a:endParaRPr lang="th-TH" sz="1800" dirty="0"/>
          </a:p>
        </p:txBody>
      </p:sp>
      <p:sp>
        <p:nvSpPr>
          <p:cNvPr id="33" name="Text 31"/>
          <p:cNvSpPr/>
          <p:nvPr/>
        </p:nvSpPr>
        <p:spPr>
          <a:xfrm>
            <a:off x="7708392" y="391363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ทำไฟล์เปลี่ยน Status</a:t>
            </a:r>
            <a:endParaRPr lang="th-TH" sz="1200" dirty="0"/>
          </a:p>
        </p:txBody>
      </p:sp>
      <p:sp>
        <p:nvSpPr>
          <p:cNvPr id="34" name="Shape 32"/>
          <p:cNvSpPr/>
          <p:nvPr/>
        </p:nvSpPr>
        <p:spPr>
          <a:xfrm>
            <a:off x="7708392" y="4315968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08392" y="4315968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Pending → Waiting</a:t>
            </a:r>
            <a:endParaRPr lang="th-TH" sz="1100" dirty="0"/>
          </a:p>
        </p:txBody>
      </p:sp>
      <p:sp>
        <p:nvSpPr>
          <p:cNvPr id="36" name="Shape 34"/>
          <p:cNvSpPr/>
          <p:nvPr/>
        </p:nvSpPr>
        <p:spPr>
          <a:xfrm>
            <a:off x="9921240" y="3566160"/>
            <a:ext cx="16459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85832" y="370332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อัปเดต Report</a:t>
            </a:r>
            <a:endParaRPr lang="th-TH" sz="1500" dirty="0"/>
          </a:p>
        </p:txBody>
      </p:sp>
      <p:sp>
        <p:nvSpPr>
          <p:cNvPr id="38" name="Shape 36"/>
          <p:cNvSpPr/>
          <p:nvPr/>
        </p:nvSpPr>
        <p:spPr>
          <a:xfrm>
            <a:off x="10085832" y="413308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85832" y="413308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ทุกวันศุกร์</a:t>
            </a:r>
            <a:endParaRPr lang="th-TH" sz="1100" dirty="0"/>
          </a:p>
        </p:txBody>
      </p:sp>
      <p:sp>
        <p:nvSpPr>
          <p:cNvPr id="40" name="Shape 38"/>
          <p:cNvSpPr/>
          <p:nvPr/>
        </p:nvSpPr>
        <p:spPr>
          <a:xfrm>
            <a:off x="2788920" y="2537460"/>
            <a:ext cx="1828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88920" y="3543300"/>
            <a:ext cx="1828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2537460"/>
            <a:ext cx="0" cy="100584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040380"/>
            <a:ext cx="1828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983480" y="3040380"/>
            <a:ext cx="36576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2788920" y="5189220"/>
            <a:ext cx="256032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178040" y="3040380"/>
            <a:ext cx="1828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78040" y="5189220"/>
            <a:ext cx="1828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60920" y="3040380"/>
            <a:ext cx="0" cy="214884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60920" y="4114800"/>
            <a:ext cx="1828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9555480" y="4114800"/>
            <a:ext cx="36576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spc="100" kern="0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/02</a:t>
            </a:r>
            <a:endParaRPr lang="th-TH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 1  E-Tax ทางอีเมล</a:t>
            </a:r>
            <a:endParaRPr lang="th-TH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98448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เอกสาร E-Tax ของบ้าน TRUE เข้ามาทาง Group Mail</a:t>
            </a:r>
            <a:endParaRPr lang="th-TH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Pending VAT  ขั้นตอนการทำงาน</a:t>
            </a:r>
            <a:endParaRPr lang="th-TH" sz="1000" dirty="0"/>
          </a:p>
        </p:txBody>
      </p:sp>
      <p:sp>
        <p:nvSpPr>
          <p:cNvPr id="6" name="Text 4"/>
          <p:cNvSpPr/>
          <p:nvPr/>
        </p:nvSpPr>
        <p:spPr>
          <a:xfrm>
            <a:off x="106829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3</a:t>
            </a:r>
            <a:endParaRPr lang="th-TH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0" cy="283464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874520"/>
            <a:ext cx="457200" cy="457200"/>
          </a:xfrm>
          <a:prstGeom prst="ellipse">
            <a:avLst/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th-TH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87452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ค้นหาในเมล</a:t>
            </a:r>
            <a:endParaRPr lang="th-TH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20370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ใช้ชื่อบริษัท หรือชื่อบุคคล</a:t>
            </a:r>
            <a:endParaRPr lang="th-TH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2697480"/>
            <a:ext cx="457200" cy="457200"/>
          </a:xfrm>
          <a:prstGeom prst="ellipse">
            <a:avLst/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th-TH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277977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เจอเมลแล้ว ดาวน์โหลด PDF</a:t>
            </a:r>
            <a:endParaRPr lang="th-TH" sz="1600" dirty="0"/>
          </a:p>
        </p:txBody>
      </p:sp>
      <p:sp>
        <p:nvSpPr>
          <p:cNvPr id="15" name="Shape 13"/>
          <p:cNvSpPr/>
          <p:nvPr/>
        </p:nvSpPr>
        <p:spPr>
          <a:xfrm>
            <a:off x="594360" y="3520440"/>
            <a:ext cx="457200" cy="457200"/>
          </a:xfrm>
          <a:prstGeom prst="ellipse">
            <a:avLst/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th-TH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60273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ปริ้นออกมาเป็นกระดาษ</a:t>
            </a:r>
            <a:endParaRPr lang="th-TH" sz="1600" dirty="0"/>
          </a:p>
        </p:txBody>
      </p:sp>
      <p:sp>
        <p:nvSpPr>
          <p:cNvPr id="18" name="Shape 16"/>
          <p:cNvSpPr/>
          <p:nvPr/>
        </p:nvSpPr>
        <p:spPr>
          <a:xfrm>
            <a:off x="594360" y="4343400"/>
            <a:ext cx="457200" cy="457200"/>
          </a:xfrm>
          <a:prstGeom prst="ellipse">
            <a:avLst/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th-TH" sz="1500" dirty="0"/>
          </a:p>
        </p:txBody>
      </p:sp>
      <p:sp>
        <p:nvSpPr>
          <p:cNvPr id="20" name="Text 18"/>
          <p:cNvSpPr/>
          <p:nvPr/>
        </p:nvSpPr>
        <p:spPr>
          <a:xfrm>
            <a:off x="1280160" y="4425696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คีย์ข้อมูลลงไฟล์</a:t>
            </a:r>
            <a:endParaRPr lang="th-TH" sz="1600" dirty="0"/>
          </a:p>
        </p:txBody>
      </p:sp>
      <p:sp>
        <p:nvSpPr>
          <p:cNvPr id="21" name="Shape 19"/>
          <p:cNvSpPr/>
          <p:nvPr/>
        </p:nvSpPr>
        <p:spPr>
          <a:xfrm>
            <a:off x="594360" y="5166360"/>
            <a:ext cx="457200" cy="457200"/>
          </a:xfrm>
          <a:prstGeom prst="ellipse">
            <a:avLst/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th-TH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16636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ส่งไฟล์ให้น้องนิว</a:t>
            </a:r>
            <a:endParaRPr lang="th-TH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549554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แยกไฟล์ตามคนทำ ส่งทุกวัน พร้อมกระดาษที่ปริ้น</a:t>
            </a:r>
            <a:endParaRPr lang="th-TH" sz="1200" dirty="0"/>
          </a:p>
        </p:txBody>
      </p:sp>
      <p:sp>
        <p:nvSpPr>
          <p:cNvPr id="25" name="Shape 23"/>
          <p:cNvSpPr/>
          <p:nvPr/>
        </p:nvSpPr>
        <p:spPr>
          <a:xfrm>
            <a:off x="7680960" y="187452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9560" y="205740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Group Mail ที่ต้องค้น</a:t>
            </a:r>
            <a:endParaRPr lang="th-TH" sz="1500" dirty="0"/>
          </a:p>
        </p:txBody>
      </p:sp>
      <p:sp>
        <p:nvSpPr>
          <p:cNvPr id="27" name="Shape 25"/>
          <p:cNvSpPr/>
          <p:nvPr/>
        </p:nvSpPr>
        <p:spPr>
          <a:xfrm>
            <a:off x="7909560" y="2560320"/>
            <a:ext cx="1691640" cy="402336"/>
          </a:xfrm>
          <a:prstGeom prst="roundRect">
            <a:avLst>
              <a:gd name="adj" fmla="val 22727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09560" y="256032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ETAX_TRUE</a:t>
            </a:r>
            <a:endParaRPr lang="th-TH" sz="1200" dirty="0"/>
          </a:p>
        </p:txBody>
      </p:sp>
      <p:sp>
        <p:nvSpPr>
          <p:cNvPr id="29" name="Shape 27"/>
          <p:cNvSpPr/>
          <p:nvPr/>
        </p:nvSpPr>
        <p:spPr>
          <a:xfrm>
            <a:off x="9692640" y="2560320"/>
            <a:ext cx="1691640" cy="402336"/>
          </a:xfrm>
          <a:prstGeom prst="roundRect">
            <a:avLst>
              <a:gd name="adj" fmla="val 22727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92640" y="256032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ETAX_Receipt_SM</a:t>
            </a:r>
            <a:endParaRPr lang="th-TH" sz="1200" dirty="0"/>
          </a:p>
        </p:txBody>
      </p:sp>
      <p:sp>
        <p:nvSpPr>
          <p:cNvPr id="31" name="Shape 29"/>
          <p:cNvSpPr/>
          <p:nvPr/>
        </p:nvSpPr>
        <p:spPr>
          <a:xfrm>
            <a:off x="7909560" y="3108960"/>
            <a:ext cx="1691640" cy="402336"/>
          </a:xfrm>
          <a:prstGeom prst="roundRect">
            <a:avLst>
              <a:gd name="adj" fmla="val 22727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9560" y="310896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ETAX_Invoice</a:t>
            </a:r>
            <a:endParaRPr lang="th-TH" sz="1200" dirty="0"/>
          </a:p>
        </p:txBody>
      </p:sp>
      <p:sp>
        <p:nvSpPr>
          <p:cNvPr id="33" name="Shape 31"/>
          <p:cNvSpPr/>
          <p:nvPr/>
        </p:nvSpPr>
        <p:spPr>
          <a:xfrm>
            <a:off x="9692640" y="3108960"/>
            <a:ext cx="1691640" cy="402336"/>
          </a:xfrm>
          <a:prstGeom prst="roundRect">
            <a:avLst>
              <a:gd name="adj" fmla="val 22727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92640" y="310896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CPN_TRUE</a:t>
            </a:r>
            <a:endParaRPr lang="th-TH" sz="1200" dirty="0"/>
          </a:p>
        </p:txBody>
      </p:sp>
      <p:sp>
        <p:nvSpPr>
          <p:cNvPr id="35" name="Shape 33"/>
          <p:cNvSpPr/>
          <p:nvPr/>
        </p:nvSpPr>
        <p:spPr>
          <a:xfrm>
            <a:off x="7909560" y="3657600"/>
            <a:ext cx="1691640" cy="402336"/>
          </a:xfrm>
          <a:prstGeom prst="roundRect">
            <a:avLst>
              <a:gd name="adj" fmla="val 22727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09560" y="365760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IBC</a:t>
            </a:r>
            <a:endParaRPr lang="th-TH" sz="1200" dirty="0"/>
          </a:p>
        </p:txBody>
      </p:sp>
      <p:sp>
        <p:nvSpPr>
          <p:cNvPr id="37" name="Shape 35"/>
          <p:cNvSpPr/>
          <p:nvPr/>
        </p:nvSpPr>
        <p:spPr>
          <a:xfrm>
            <a:off x="9692640" y="3657600"/>
            <a:ext cx="1691640" cy="402336"/>
          </a:xfrm>
          <a:prstGeom prst="roundRect">
            <a:avLst>
              <a:gd name="adj" fmla="val 22727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92640" y="3657600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200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MACRO</a:t>
            </a:r>
            <a:endParaRPr lang="th-TH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spc="100" kern="0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/03</a:t>
            </a:r>
            <a:endParaRPr lang="th-TH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 2  เอกสารกระดาษ</a:t>
            </a:r>
            <a:endParaRPr lang="th-TH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98448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เอกสารตัวจริงที่ส่งเข้ามา ผ่านมือ 2 คนก่อนคีย์ลงไฟล์</a:t>
            </a:r>
            <a:endParaRPr lang="th-TH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Pending VAT  ขั้นตอนการทำงาน</a:t>
            </a:r>
            <a:endParaRPr lang="th-TH" sz="1000" dirty="0"/>
          </a:p>
        </p:txBody>
      </p:sp>
      <p:sp>
        <p:nvSpPr>
          <p:cNvPr id="6" name="Text 4"/>
          <p:cNvSpPr/>
          <p:nvPr/>
        </p:nvSpPr>
        <p:spPr>
          <a:xfrm>
            <a:off x="106829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4</a:t>
            </a:r>
            <a:endParaRPr lang="th-TH" sz="1000" dirty="0"/>
          </a:p>
        </p:txBody>
      </p:sp>
      <p:sp>
        <p:nvSpPr>
          <p:cNvPr id="7" name="Shape 5"/>
          <p:cNvSpPr/>
          <p:nvPr/>
        </p:nvSpPr>
        <p:spPr>
          <a:xfrm>
            <a:off x="723748" y="2651760"/>
            <a:ext cx="2377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4916" y="288036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1</a:t>
            </a:r>
            <a:endParaRPr lang="th-TH" sz="1100" dirty="0"/>
          </a:p>
        </p:txBody>
      </p:sp>
      <p:sp>
        <p:nvSpPr>
          <p:cNvPr id="9" name="Text 7"/>
          <p:cNvSpPr/>
          <p:nvPr/>
        </p:nvSpPr>
        <p:spPr>
          <a:xfrm>
            <a:off x="924916" y="3200400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เอกสารเข้ามา</a:t>
            </a:r>
            <a:endParaRPr lang="th-TH" sz="1800" dirty="0"/>
          </a:p>
        </p:txBody>
      </p:sp>
      <p:sp>
        <p:nvSpPr>
          <p:cNvPr id="10" name="Text 8"/>
          <p:cNvSpPr/>
          <p:nvPr/>
        </p:nvSpPr>
        <p:spPr>
          <a:xfrm>
            <a:off x="924916" y="402336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ใบเสร็จรับเงิน และใบกำกับภาษี</a:t>
            </a:r>
            <a:endParaRPr lang="th-TH" sz="1200" dirty="0"/>
          </a:p>
        </p:txBody>
      </p:sp>
      <p:sp>
        <p:nvSpPr>
          <p:cNvPr id="11" name="Shape 9"/>
          <p:cNvSpPr/>
          <p:nvPr/>
        </p:nvSpPr>
        <p:spPr>
          <a:xfrm>
            <a:off x="3101188" y="3726180"/>
            <a:ext cx="4114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512668" y="2651760"/>
            <a:ext cx="2377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13836" y="288036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2</a:t>
            </a:r>
            <a:endParaRPr lang="th-TH" sz="1100" dirty="0"/>
          </a:p>
        </p:txBody>
      </p:sp>
      <p:sp>
        <p:nvSpPr>
          <p:cNvPr id="14" name="Text 12"/>
          <p:cNvSpPr/>
          <p:nvPr/>
        </p:nvSpPr>
        <p:spPr>
          <a:xfrm>
            <a:off x="3713836" y="3200400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แยกของ</a:t>
            </a:r>
            <a:endParaRPr lang="th-TH" sz="1800" dirty="0"/>
          </a:p>
        </p:txBody>
      </p:sp>
      <p:sp>
        <p:nvSpPr>
          <p:cNvPr id="15" name="Shape 13"/>
          <p:cNvSpPr/>
          <p:nvPr/>
        </p:nvSpPr>
        <p:spPr>
          <a:xfrm>
            <a:off x="3713836" y="402336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836" y="40233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พี่ไอซ์</a:t>
            </a:r>
            <a:endParaRPr lang="th-TH" sz="1100" dirty="0"/>
          </a:p>
        </p:txBody>
      </p:sp>
      <p:sp>
        <p:nvSpPr>
          <p:cNvPr id="17" name="Shape 15"/>
          <p:cNvSpPr/>
          <p:nvPr/>
        </p:nvSpPr>
        <p:spPr>
          <a:xfrm>
            <a:off x="5890108" y="3726180"/>
            <a:ext cx="4114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1588" y="2651760"/>
            <a:ext cx="2377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2756" y="288036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3</a:t>
            </a:r>
            <a:endParaRPr lang="th-TH" sz="1100" dirty="0"/>
          </a:p>
        </p:txBody>
      </p:sp>
      <p:sp>
        <p:nvSpPr>
          <p:cNvPr id="20" name="Text 18"/>
          <p:cNvSpPr/>
          <p:nvPr/>
        </p:nvSpPr>
        <p:spPr>
          <a:xfrm>
            <a:off x="6502756" y="3200400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แกะ และแยกตามบริษัท</a:t>
            </a:r>
            <a:endParaRPr lang="th-TH" sz="1800" dirty="0"/>
          </a:p>
        </p:txBody>
      </p:sp>
      <p:sp>
        <p:nvSpPr>
          <p:cNvPr id="21" name="Shape 19"/>
          <p:cNvSpPr/>
          <p:nvPr/>
        </p:nvSpPr>
        <p:spPr>
          <a:xfrm>
            <a:off x="6502756" y="402336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2756" y="40233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แพร</a:t>
            </a:r>
            <a:endParaRPr lang="th-TH" sz="1100" dirty="0"/>
          </a:p>
        </p:txBody>
      </p:sp>
      <p:sp>
        <p:nvSpPr>
          <p:cNvPr id="23" name="Text 21"/>
          <p:cNvSpPr/>
          <p:nvPr/>
        </p:nvSpPr>
        <p:spPr>
          <a:xfrm>
            <a:off x="6502756" y="4462272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แพรดูของบ้าน T</a:t>
            </a:r>
            <a:endParaRPr lang="th-TH" sz="1200" dirty="0"/>
          </a:p>
        </p:txBody>
      </p:sp>
      <p:sp>
        <p:nvSpPr>
          <p:cNvPr id="24" name="Shape 22"/>
          <p:cNvSpPr/>
          <p:nvPr/>
        </p:nvSpPr>
        <p:spPr>
          <a:xfrm>
            <a:off x="8679028" y="3726180"/>
            <a:ext cx="411480" cy="0"/>
          </a:xfrm>
          <a:prstGeom prst="line">
            <a:avLst/>
          </a:prstGeom>
          <a:noFill/>
          <a:ln w="15875">
            <a:solidFill>
              <a:srgbClr val="A9A49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90508" y="2651760"/>
            <a:ext cx="23774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A9A49A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291676" y="2880360"/>
            <a:ext cx="1975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 4</a:t>
            </a:r>
            <a:endParaRPr lang="th-TH" sz="1100" dirty="0"/>
          </a:p>
        </p:txBody>
      </p:sp>
      <p:sp>
        <p:nvSpPr>
          <p:cNvPr id="27" name="Text 25"/>
          <p:cNvSpPr/>
          <p:nvPr/>
        </p:nvSpPr>
        <p:spPr>
          <a:xfrm>
            <a:off x="9291676" y="3200400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คีย์ลงไฟล์ ส่งน้องนิว</a:t>
            </a:r>
            <a:endParaRPr lang="th-TH" sz="1800" dirty="0"/>
          </a:p>
        </p:txBody>
      </p:sp>
      <p:sp>
        <p:nvSpPr>
          <p:cNvPr id="28" name="Text 26"/>
          <p:cNvSpPr/>
          <p:nvPr/>
        </p:nvSpPr>
        <p:spPr>
          <a:xfrm>
            <a:off x="9291676" y="402336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ต่อเหมือนช่องทาง 1</a:t>
            </a:r>
            <a:endParaRPr lang="th-TH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spc="100" kern="0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/04</a:t>
            </a:r>
            <a:endParaRPr lang="th-TH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รอบการทำงานในหนึ่งสัปดาห์</a:t>
            </a:r>
            <a:endParaRPr lang="th-TH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98448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ทุกวันมีไฟล์จากบ้าน TRUE  พุธได้ไฟล์บ้าน DTAC  ศุกร์อัปเดต Report</a:t>
            </a:r>
            <a:endParaRPr lang="th-TH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Pending VAT  ขั้นตอนการทำงาน</a:t>
            </a:r>
            <a:endParaRPr lang="th-TH" sz="1000" dirty="0"/>
          </a:p>
        </p:txBody>
      </p:sp>
      <p:sp>
        <p:nvSpPr>
          <p:cNvPr id="6" name="Text 4"/>
          <p:cNvSpPr/>
          <p:nvPr/>
        </p:nvSpPr>
        <p:spPr>
          <a:xfrm>
            <a:off x="106829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5</a:t>
            </a:r>
            <a:endParaRPr lang="th-TH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จันทร์</a:t>
            </a:r>
            <a:endParaRPr lang="th-TH" sz="1500" dirty="0"/>
          </a:p>
        </p:txBody>
      </p:sp>
      <p:sp>
        <p:nvSpPr>
          <p:cNvPr id="8" name="Shape 6"/>
          <p:cNvSpPr/>
          <p:nvPr/>
        </p:nvSpPr>
        <p:spPr>
          <a:xfrm>
            <a:off x="594360" y="2240280"/>
            <a:ext cx="2057400" cy="2971800"/>
          </a:xfrm>
          <a:prstGeom prst="roundRect">
            <a:avLst>
              <a:gd name="adj" fmla="val 4444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8288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อังคาร</a:t>
            </a:r>
            <a:endParaRPr lang="th-TH" sz="1500" dirty="0"/>
          </a:p>
        </p:txBody>
      </p:sp>
      <p:sp>
        <p:nvSpPr>
          <p:cNvPr id="10" name="Shape 8"/>
          <p:cNvSpPr/>
          <p:nvPr/>
        </p:nvSpPr>
        <p:spPr>
          <a:xfrm>
            <a:off x="2834640" y="2240280"/>
            <a:ext cx="2057400" cy="2971800"/>
          </a:xfrm>
          <a:prstGeom prst="roundRect">
            <a:avLst>
              <a:gd name="adj" fmla="val 4444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8288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พุธ</a:t>
            </a:r>
            <a:endParaRPr lang="th-TH" sz="1500" dirty="0"/>
          </a:p>
        </p:txBody>
      </p:sp>
      <p:sp>
        <p:nvSpPr>
          <p:cNvPr id="12" name="Shape 10"/>
          <p:cNvSpPr/>
          <p:nvPr/>
        </p:nvSpPr>
        <p:spPr>
          <a:xfrm>
            <a:off x="5074920" y="2240280"/>
            <a:ext cx="2057400" cy="2971800"/>
          </a:xfrm>
          <a:prstGeom prst="roundRect">
            <a:avLst>
              <a:gd name="adj" fmla="val 4444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8288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พฤหัสบดี</a:t>
            </a:r>
            <a:endParaRPr lang="th-TH" sz="1500" dirty="0"/>
          </a:p>
        </p:txBody>
      </p:sp>
      <p:sp>
        <p:nvSpPr>
          <p:cNvPr id="14" name="Shape 12"/>
          <p:cNvSpPr/>
          <p:nvPr/>
        </p:nvSpPr>
        <p:spPr>
          <a:xfrm>
            <a:off x="7315200" y="2240280"/>
            <a:ext cx="2057400" cy="2971800"/>
          </a:xfrm>
          <a:prstGeom prst="roundRect">
            <a:avLst>
              <a:gd name="adj" fmla="val 4444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0" y="18288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ศุกร์</a:t>
            </a:r>
            <a:endParaRPr lang="th-TH" sz="1500" dirty="0"/>
          </a:p>
        </p:txBody>
      </p:sp>
      <p:sp>
        <p:nvSpPr>
          <p:cNvPr id="16" name="Shape 14"/>
          <p:cNvSpPr/>
          <p:nvPr/>
        </p:nvSpPr>
        <p:spPr>
          <a:xfrm>
            <a:off x="9555480" y="2240280"/>
            <a:ext cx="2057400" cy="2971800"/>
          </a:xfrm>
          <a:prstGeom prst="roundRect">
            <a:avLst>
              <a:gd name="adj" fmla="val 4444"/>
            </a:avLst>
          </a:prstGeom>
          <a:solidFill>
            <a:srgbClr val="F1EFEA"/>
          </a:solidFill>
          <a:ln w="12700">
            <a:solidFill>
              <a:srgbClr val="F1EF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468880"/>
            <a:ext cx="10744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2468880"/>
            <a:ext cx="10195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ทุกวัน   </a:t>
            </a:r>
            <a:pPr indent="0" marL="0">
              <a:buNone/>
            </a:pPr>
            <a:r>
              <a:rPr lang="th-TH" altLang="en-US" sz="15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ทีมตามบ้าน TRUE ส่งไฟล์ และกระดาษที่ปริ้นให้น้องนิว</a:t>
            </a:r>
            <a:endParaRPr lang="th-TH" sz="1500" dirty="0"/>
          </a:p>
        </p:txBody>
      </p:sp>
      <p:sp>
        <p:nvSpPr>
          <p:cNvPr id="19" name="Shape 17"/>
          <p:cNvSpPr/>
          <p:nvPr/>
        </p:nvSpPr>
        <p:spPr>
          <a:xfrm>
            <a:off x="5184648" y="3520440"/>
            <a:ext cx="183794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875">
            <a:solidFill>
              <a:srgbClr val="B85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7528" y="372160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พี่บิว</a:t>
            </a:r>
            <a:endParaRPr lang="th-TH" sz="1800" dirty="0"/>
          </a:p>
        </p:txBody>
      </p:sp>
      <p:sp>
        <p:nvSpPr>
          <p:cNvPr id="21" name="Text 19"/>
          <p:cNvSpPr/>
          <p:nvPr/>
        </p:nvSpPr>
        <p:spPr>
          <a:xfrm>
            <a:off x="5367528" y="4160520"/>
            <a:ext cx="1563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บ้าน DTAC</a:t>
            </a:r>
            <a:endParaRPr lang="th-TH" sz="1200" dirty="0"/>
          </a:p>
          <a:p>
            <a:pPr indent="0" marL="0">
              <a:buNone/>
            </a:pPr>
            <a:r>
              <a:rPr lang="th-TH" altLang="en-US" sz="12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ส่งไฟล์ให้น้องนิว</a:t>
            </a:r>
            <a:endParaRPr lang="th-TH" sz="1200" dirty="0"/>
          </a:p>
        </p:txBody>
      </p:sp>
      <p:sp>
        <p:nvSpPr>
          <p:cNvPr id="22" name="Shape 20"/>
          <p:cNvSpPr/>
          <p:nvPr/>
        </p:nvSpPr>
        <p:spPr>
          <a:xfrm>
            <a:off x="9665208" y="3520440"/>
            <a:ext cx="1837944" cy="1371600"/>
          </a:xfrm>
          <a:prstGeom prst="roundRect">
            <a:avLst>
              <a:gd name="adj" fmla="val 5333"/>
            </a:avLst>
          </a:prstGeom>
          <a:solidFill>
            <a:srgbClr val="B8502E"/>
          </a:solidFill>
          <a:ln w="15875">
            <a:solidFill>
              <a:srgbClr val="B850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48088" y="372160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น้องนิว</a:t>
            </a:r>
            <a:endParaRPr lang="th-TH" sz="1800" dirty="0"/>
          </a:p>
        </p:txBody>
      </p:sp>
      <p:sp>
        <p:nvSpPr>
          <p:cNvPr id="24" name="Text 22"/>
          <p:cNvSpPr/>
          <p:nvPr/>
        </p:nvSpPr>
        <p:spPr>
          <a:xfrm>
            <a:off x="9848088" y="4160520"/>
            <a:ext cx="1563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dirty="0">
                <a:solidFill>
                  <a:srgbClr val="FFFFF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อัปเดต Report</a:t>
            </a:r>
            <a:endParaRPr lang="th-TH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200" b="1" spc="100" kern="0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/05</a:t>
            </a:r>
            <a:endParaRPr lang="th-TH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8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ใครทำอะไร</a:t>
            </a:r>
            <a:endParaRPr lang="th-TH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298448"/>
            <a:ext cx="11002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rgbClr val="77736B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เรียงตามทางเดินของเอกสาร</a:t>
            </a:r>
            <a:endParaRPr lang="th-TH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6400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Pending VAT  ขั้นตอนการทำงาน</a:t>
            </a:r>
            <a:endParaRPr lang="th-TH" sz="1000" dirty="0"/>
          </a:p>
        </p:txBody>
      </p:sp>
      <p:sp>
        <p:nvSpPr>
          <p:cNvPr id="6" name="Text 4"/>
          <p:cNvSpPr/>
          <p:nvPr/>
        </p:nvSpPr>
        <p:spPr>
          <a:xfrm>
            <a:off x="10682935" y="6400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000" dirty="0">
                <a:solidFill>
                  <a:srgbClr val="A9A49A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6</a:t>
            </a:r>
            <a:endParaRPr lang="th-TH" sz="1000" dirty="0"/>
          </a:p>
        </p:txBody>
      </p:sp>
      <p:sp>
        <p:nvSpPr>
          <p:cNvPr id="7" name="Shape 5"/>
          <p:cNvSpPr/>
          <p:nvPr/>
        </p:nvSpPr>
        <p:spPr>
          <a:xfrm>
            <a:off x="563728" y="22402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2328" y="24963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พี่ไอซ์</a:t>
            </a:r>
            <a:endParaRPr lang="th-TH" sz="2200" dirty="0"/>
          </a:p>
        </p:txBody>
      </p:sp>
      <p:sp>
        <p:nvSpPr>
          <p:cNvPr id="9" name="Shape 7"/>
          <p:cNvSpPr/>
          <p:nvPr/>
        </p:nvSpPr>
        <p:spPr>
          <a:xfrm>
            <a:off x="792328" y="306324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328" y="30632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เอกสารกระดาษ</a:t>
            </a:r>
            <a:endParaRPr lang="th-TH" sz="1100" dirty="0"/>
          </a:p>
        </p:txBody>
      </p:sp>
      <p:sp>
        <p:nvSpPr>
          <p:cNvPr id="11" name="Text 9"/>
          <p:cNvSpPr/>
          <p:nvPr/>
        </p:nvSpPr>
        <p:spPr>
          <a:xfrm>
            <a:off x="792328" y="361188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แยกของเอกสารที่เข้ามา</a:t>
            </a:r>
            <a:endParaRPr lang="th-TH" sz="1300" dirty="0"/>
          </a:p>
        </p:txBody>
      </p:sp>
      <p:sp>
        <p:nvSpPr>
          <p:cNvPr id="12" name="Shape 10"/>
          <p:cNvSpPr/>
          <p:nvPr/>
        </p:nvSpPr>
        <p:spPr>
          <a:xfrm>
            <a:off x="3398368" y="22402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6968" y="24963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แพร</a:t>
            </a:r>
            <a:endParaRPr lang="th-TH" sz="2200" dirty="0"/>
          </a:p>
        </p:txBody>
      </p:sp>
      <p:sp>
        <p:nvSpPr>
          <p:cNvPr id="14" name="Shape 12"/>
          <p:cNvSpPr/>
          <p:nvPr/>
        </p:nvSpPr>
        <p:spPr>
          <a:xfrm>
            <a:off x="3626968" y="306324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6968" y="30632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ทีมตาม TRUE</a:t>
            </a:r>
            <a:endParaRPr lang="th-TH" sz="1100" dirty="0"/>
          </a:p>
        </p:txBody>
      </p:sp>
      <p:sp>
        <p:nvSpPr>
          <p:cNvPr id="16" name="Text 14"/>
          <p:cNvSpPr/>
          <p:nvPr/>
        </p:nvSpPr>
        <p:spPr>
          <a:xfrm>
            <a:off x="3626968" y="361188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แกะ และแยกเอกสารกระดาษตามบริษัท</a:t>
            </a:r>
            <a:endParaRPr lang="th-TH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ดูของบ้าน T</a:t>
            </a:r>
            <a:endParaRPr lang="th-TH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2402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9050">
            <a:solidFill>
              <a:srgbClr val="B850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61608" y="24963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น้องนิว</a:t>
            </a:r>
            <a:endParaRPr lang="th-TH" sz="2200" dirty="0"/>
          </a:p>
        </p:txBody>
      </p:sp>
      <p:sp>
        <p:nvSpPr>
          <p:cNvPr id="19" name="Shape 17"/>
          <p:cNvSpPr/>
          <p:nvPr/>
        </p:nvSpPr>
        <p:spPr>
          <a:xfrm>
            <a:off x="6461608" y="306324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B8502E"/>
          </a:solidFill>
          <a:ln w="12700">
            <a:solidFill>
              <a:srgbClr val="B85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1608" y="30632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ทีมตาม TRUE</a:t>
            </a:r>
            <a:endParaRPr lang="th-TH" sz="1100" dirty="0"/>
          </a:p>
        </p:txBody>
      </p:sp>
      <p:sp>
        <p:nvSpPr>
          <p:cNvPr id="21" name="Text 19"/>
          <p:cNvSpPr/>
          <p:nvPr/>
        </p:nvSpPr>
        <p:spPr>
          <a:xfrm>
            <a:off x="6461608" y="361188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รับไฟล์จากทุกคน</a:t>
            </a:r>
            <a:endParaRPr lang="th-TH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ทำไฟล์เปลี่ยน Status Pending → Waiting</a:t>
            </a:r>
            <a:endParaRPr lang="th-TH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อัปเดต Report ทุกวันศุกร์</a:t>
            </a:r>
            <a:endParaRPr lang="th-TH" sz="1300" dirty="0"/>
          </a:p>
        </p:txBody>
      </p:sp>
      <p:sp>
        <p:nvSpPr>
          <p:cNvPr id="22" name="Shape 20"/>
          <p:cNvSpPr/>
          <p:nvPr/>
        </p:nvSpPr>
        <p:spPr>
          <a:xfrm>
            <a:off x="9067648" y="224028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2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6248" y="24963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rgbClr val="23221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พี่บิว</a:t>
            </a:r>
            <a:endParaRPr lang="th-TH" sz="2200" dirty="0"/>
          </a:p>
        </p:txBody>
      </p:sp>
      <p:sp>
        <p:nvSpPr>
          <p:cNvPr id="24" name="Shape 22"/>
          <p:cNvSpPr/>
          <p:nvPr/>
        </p:nvSpPr>
        <p:spPr>
          <a:xfrm>
            <a:off x="9296248" y="306324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6E9E3"/>
          </a:solidFill>
          <a:ln w="12700">
            <a:solidFill>
              <a:srgbClr val="F6E9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96248" y="30632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100" b="1" dirty="0">
                <a:solidFill>
                  <a:srgbClr val="B8502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ทีมตาม DTAC</a:t>
            </a:r>
            <a:endParaRPr lang="th-TH" sz="1100" dirty="0"/>
          </a:p>
        </p:txBody>
      </p:sp>
      <p:sp>
        <p:nvSpPr>
          <p:cNvPr id="26" name="Text 24"/>
          <p:cNvSpPr/>
          <p:nvPr/>
        </p:nvSpPr>
        <p:spPr>
          <a:xfrm>
            <a:off x="9296248" y="361188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ตามเอกสารบ้าน DTAC</a:t>
            </a:r>
            <a:endParaRPr lang="th-TH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th-TH" altLang="en-US" sz="1300" dirty="0">
                <a:solidFill>
                  <a:srgbClr val="23221F"/>
                </a:solidFill>
                <a:latin typeface="Leelawadee UI Semilight" pitchFamily="34" charset="0"/>
                <a:ea typeface="Leelawadee UI Semilight" pitchFamily="34" charset="-122"/>
                <a:cs typeface="Leelawadee UI Semilight" pitchFamily="34" charset="-120"/>
              </a:rPr>
              <a:t>ส่งไฟล์ให้น้องนิวทุกวันพุธ</a:t>
            </a:r>
            <a:endParaRPr lang="th-TH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 Semiligh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ขั้นตอนการทำงาน Pending VAT</dc:title>
  <dc:subject>PptxGenJS Presentation</dc:subject>
  <dc:creator>PptxGenJS</dc:creator>
  <cp:lastModifiedBy>PptxGenJS</cp:lastModifiedBy>
  <cp:revision>1</cp:revision>
  <dcterms:created xsi:type="dcterms:W3CDTF">2026-09-24T08:12:11Z</dcterms:created>
  <dcterms:modified xsi:type="dcterms:W3CDTF">2026-09-24T08:12:11Z</dcterms:modified>
</cp:coreProperties>
</file>